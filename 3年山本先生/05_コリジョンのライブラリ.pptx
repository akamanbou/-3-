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263" r:id="rId3"/>
    <p:sldId id="424" r:id="rId4"/>
    <p:sldId id="517" r:id="rId5"/>
    <p:sldId id="521" r:id="rId6"/>
    <p:sldId id="511" r:id="rId7"/>
    <p:sldId id="518" r:id="rId8"/>
    <p:sldId id="522" r:id="rId9"/>
    <p:sldId id="520" r:id="rId10"/>
    <p:sldId id="519" r:id="rId11"/>
    <p:sldId id="523" r:id="rId12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CC"/>
    <a:srgbClr val="FF0000"/>
    <a:srgbClr val="99FFCC"/>
    <a:srgbClr val="99FF33"/>
    <a:srgbClr val="FFCC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32" autoAdjust="0"/>
  </p:normalViewPr>
  <p:slideViewPr>
    <p:cSldViewPr>
      <p:cViewPr varScale="1">
        <p:scale>
          <a:sx n="113" d="100"/>
          <a:sy n="113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CB706637-DCFC-497F-BB89-D8E67B749BBA}" type="datetimeFigureOut">
              <a:rPr lang="ja-JP" altLang="en-US"/>
              <a:pPr>
                <a:defRPr/>
              </a:pPr>
              <a:t>2026/5/11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425A6533-C8EA-4CF0-90C3-0DEC9B8D743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0186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3313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05369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43639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82560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90218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04747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29368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8152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03202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C77FAE-C71E-4216-8936-4CC002CB1ACE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50926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93366-EE10-4D47-A1E9-EE7FBEB2A92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236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DDD20-FFA7-4C36-A680-1856AB2F305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671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64983-2EE2-43D2-918C-A92BCA27C10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6304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56793-D6FA-4D1D-B17A-AC8C5E89C81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8912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ED31D-AA26-4451-A054-CD1C2659243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648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09F5B-575D-49F1-AA0D-40166D43521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4868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4E60D-59DB-4E98-9EA3-CD1925070F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5036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BA516-D543-47CA-8B43-B116480E19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261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37459-33D6-4C7D-B668-68D8A138A18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5471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24D0B-E5D1-406F-982B-7B2FFAB4731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5101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D8DA2-3599-48AE-AF70-778523510A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9096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6A49AFD3-AA32-4D40-AC69-503CCE1DD89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衝突判定管理用ライブラリを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整理する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en-US" altLang="ja-JP" sz="4000" dirty="0"/>
              <a:t>5</a:t>
            </a:r>
            <a:r>
              <a:rPr lang="ja-JP" altLang="en-US" sz="4000" dirty="0"/>
              <a:t>　コリジョンのライブラリ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322833" y="1484486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簡単な当たり判定のクラス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39552" y="5085184"/>
            <a:ext cx="806489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現状は以下の当たり判定くらいしかないはず。</a:t>
            </a:r>
            <a:br>
              <a:rPr lang="en-US" altLang="ja-JP" sz="2400" b="1" dirty="0"/>
            </a:br>
            <a:r>
              <a:rPr lang="en-US" altLang="ja-JP" sz="2400" b="1" dirty="0">
                <a:solidFill>
                  <a:srgbClr val="FF66CC"/>
                </a:solidFill>
              </a:rPr>
              <a:t>2D</a:t>
            </a:r>
            <a:r>
              <a:rPr lang="ja-JP" altLang="en-US" sz="2400" b="1" dirty="0"/>
              <a:t>・・・</a:t>
            </a:r>
            <a:r>
              <a:rPr lang="ja-JP" altLang="en-US" sz="2400" b="1" dirty="0">
                <a:solidFill>
                  <a:srgbClr val="FF0000"/>
                </a:solidFill>
              </a:rPr>
              <a:t>矩形</a:t>
            </a:r>
            <a:r>
              <a:rPr lang="en-US" altLang="ja-JP" sz="2400" b="1" dirty="0">
                <a:solidFill>
                  <a:srgbClr val="FF0000"/>
                </a:solidFill>
              </a:rPr>
              <a:t>&amp;</a:t>
            </a:r>
            <a:r>
              <a:rPr lang="ja-JP" altLang="en-US" sz="2400" b="1" dirty="0">
                <a:solidFill>
                  <a:srgbClr val="FF0000"/>
                </a:solidFill>
              </a:rPr>
              <a:t>矩形</a:t>
            </a:r>
            <a:r>
              <a:rPr lang="ja-JP" altLang="en-US" sz="2400" b="1" dirty="0"/>
              <a:t>、</a:t>
            </a:r>
            <a:r>
              <a:rPr lang="ja-JP" altLang="en-US" sz="2400" b="1" dirty="0">
                <a:solidFill>
                  <a:srgbClr val="0000FF"/>
                </a:solidFill>
              </a:rPr>
              <a:t>円</a:t>
            </a:r>
            <a:r>
              <a:rPr lang="en-US" altLang="ja-JP" sz="2400" b="1" dirty="0">
                <a:solidFill>
                  <a:srgbClr val="0000FF"/>
                </a:solidFill>
              </a:rPr>
              <a:t>&amp;</a:t>
            </a:r>
            <a:r>
              <a:rPr lang="ja-JP" altLang="en-US" sz="2400" b="1" dirty="0">
                <a:solidFill>
                  <a:srgbClr val="0000FF"/>
                </a:solidFill>
              </a:rPr>
              <a:t>円</a:t>
            </a:r>
            <a:br>
              <a:rPr lang="en-US" altLang="ja-JP" sz="2400" b="1" dirty="0"/>
            </a:br>
            <a:r>
              <a:rPr lang="en-US" altLang="ja-JP" sz="2400" b="1" dirty="0">
                <a:solidFill>
                  <a:srgbClr val="00B0F0"/>
                </a:solidFill>
              </a:rPr>
              <a:t>3D</a:t>
            </a:r>
            <a:r>
              <a:rPr lang="ja-JP" altLang="en-US" sz="2400" b="1" dirty="0"/>
              <a:t>・・・</a:t>
            </a:r>
            <a:r>
              <a:rPr lang="ja-JP" altLang="en-US" sz="2400" b="1" dirty="0">
                <a:solidFill>
                  <a:srgbClr val="FF0000"/>
                </a:solidFill>
              </a:rPr>
              <a:t>ボックス</a:t>
            </a:r>
            <a:r>
              <a:rPr lang="en-US" altLang="ja-JP" sz="2400" b="1" dirty="0">
                <a:solidFill>
                  <a:srgbClr val="FF0000"/>
                </a:solidFill>
              </a:rPr>
              <a:t>&amp;</a:t>
            </a:r>
            <a:r>
              <a:rPr lang="ja-JP" altLang="en-US" sz="2400" b="1" dirty="0">
                <a:solidFill>
                  <a:srgbClr val="FF0000"/>
                </a:solidFill>
              </a:rPr>
              <a:t>ボックス</a:t>
            </a:r>
            <a:r>
              <a:rPr lang="en-US" altLang="ja-JP" sz="2400" b="1" dirty="0">
                <a:solidFill>
                  <a:srgbClr val="FF0000"/>
                </a:solidFill>
              </a:rPr>
              <a:t>(AABB)</a:t>
            </a:r>
            <a:r>
              <a:rPr lang="ja-JP" altLang="en-US" sz="2400" b="1" dirty="0" err="1"/>
              <a:t>、</a:t>
            </a:r>
            <a:r>
              <a:rPr lang="ja-JP" altLang="en-US" sz="2400" b="1" dirty="0">
                <a:solidFill>
                  <a:srgbClr val="0000FF"/>
                </a:solidFill>
              </a:rPr>
              <a:t>球</a:t>
            </a:r>
            <a:r>
              <a:rPr lang="en-US" altLang="ja-JP" sz="2400" b="1" dirty="0">
                <a:solidFill>
                  <a:srgbClr val="0000FF"/>
                </a:solidFill>
              </a:rPr>
              <a:t>&amp;</a:t>
            </a:r>
            <a:r>
              <a:rPr lang="ja-JP" altLang="en-US" sz="2400" b="1" dirty="0">
                <a:solidFill>
                  <a:srgbClr val="0000FF"/>
                </a:solidFill>
              </a:rPr>
              <a:t>球</a:t>
            </a:r>
            <a:br>
              <a:rPr lang="en-US" altLang="ja-JP" sz="2400" b="1" dirty="0">
                <a:solidFill>
                  <a:srgbClr val="0000FF"/>
                </a:solidFill>
              </a:rPr>
            </a:br>
            <a:r>
              <a:rPr lang="ja-JP" altLang="en-US" sz="2400" b="1" dirty="0"/>
              <a:t>他にも追加しておくと選択肢が増えるので便利！</a:t>
            </a:r>
            <a:endParaRPr lang="en-US" altLang="ja-JP" sz="2400" b="1" dirty="0"/>
          </a:p>
        </p:txBody>
      </p:sp>
      <p:sp>
        <p:nvSpPr>
          <p:cNvPr id="6" name="角丸四角形吹き出し 13">
            <a:extLst>
              <a:ext uri="{FF2B5EF4-FFF2-40B4-BE49-F238E27FC236}">
                <a16:creationId xmlns:a16="http://schemas.microsoft.com/office/drawing/2014/main" id="{2156F83A-54EA-4925-A438-C7EF12868BDC}"/>
              </a:ext>
            </a:extLst>
          </p:cNvPr>
          <p:cNvSpPr/>
          <p:nvPr/>
        </p:nvSpPr>
        <p:spPr>
          <a:xfrm>
            <a:off x="3275856" y="2209074"/>
            <a:ext cx="4464496" cy="1137043"/>
          </a:xfrm>
          <a:prstGeom prst="wedgeRoundRectCallout">
            <a:avLst>
              <a:gd name="adj1" fmla="val -60983"/>
              <a:gd name="adj2" fmla="val 683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あれ？これ一番最初に整理したよね？</a:t>
            </a:r>
            <a:br>
              <a:rPr lang="en-US" altLang="ja-JP" sz="2000" b="1" dirty="0"/>
            </a:br>
            <a:r>
              <a:rPr lang="ja-JP" altLang="en-US" sz="2000" b="1" dirty="0"/>
              <a:t>忘れたの？</a:t>
            </a:r>
            <a:br>
              <a:rPr lang="en-US" altLang="ja-JP" sz="2000" b="1" dirty="0"/>
            </a:br>
            <a:r>
              <a:rPr lang="ja-JP" altLang="en-US" sz="2000" b="1" dirty="0"/>
              <a:t>老化のせいかな？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79DDB339-0121-44F3-B236-5FBC5EA4CC7D}"/>
              </a:ext>
            </a:extLst>
          </p:cNvPr>
          <p:cNvSpPr/>
          <p:nvPr/>
        </p:nvSpPr>
        <p:spPr>
          <a:xfrm>
            <a:off x="1240915" y="3756399"/>
            <a:ext cx="4968552" cy="1137043"/>
          </a:xfrm>
          <a:prstGeom prst="wedgeRoundRectCallout">
            <a:avLst>
              <a:gd name="adj1" fmla="val 62465"/>
              <a:gd name="adj2" fmla="val -2572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違います。</a:t>
            </a:r>
            <a:br>
              <a:rPr lang="en-US" altLang="ja-JP" sz="2000" b="1" dirty="0"/>
            </a:br>
            <a:r>
              <a:rPr lang="ja-JP" altLang="en-US" sz="2000" b="1" dirty="0"/>
              <a:t>更に充実させてもいいよね、という事です。</a:t>
            </a:r>
          </a:p>
        </p:txBody>
      </p:sp>
      <p:pic>
        <p:nvPicPr>
          <p:cNvPr id="1026" name="Picture 2" descr="「いひひ」と笑っている男の子のイラスト">
            <a:extLst>
              <a:ext uri="{FF2B5EF4-FFF2-40B4-BE49-F238E27FC236}">
                <a16:creationId xmlns:a16="http://schemas.microsoft.com/office/drawing/2014/main" id="{203D1B39-543B-478A-82D9-3D9F9201D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885171"/>
            <a:ext cx="1440160" cy="167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先生のイラスト（男性）">
            <a:extLst>
              <a:ext uri="{FF2B5EF4-FFF2-40B4-BE49-F238E27FC236}">
                <a16:creationId xmlns:a16="http://schemas.microsoft.com/office/drawing/2014/main" id="{EC7C5F73-4659-444E-A36C-314D0E4DA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14" y="3461890"/>
            <a:ext cx="1187746" cy="161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1187624" y="836713"/>
            <a:ext cx="5112568" cy="864096"/>
          </a:xfrm>
          <a:prstGeom prst="wedgeRoundRectCallout">
            <a:avLst>
              <a:gd name="adj1" fmla="val 57761"/>
              <a:gd name="adj2" fmla="val -465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他にはどんな当たり判定が存在するだろう？</a:t>
            </a:r>
            <a:br>
              <a:rPr lang="en-US" altLang="ja-JP" sz="2000" b="1" dirty="0"/>
            </a:br>
            <a:r>
              <a:rPr lang="ja-JP" altLang="en-US" sz="2000" b="1" dirty="0"/>
              <a:t>計算が難しいやつとかもあるのかな・・・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F24F9713-5B69-43DC-A6B5-094A4B6E3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397" y="2204864"/>
            <a:ext cx="80648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＜</a:t>
            </a:r>
            <a:r>
              <a:rPr lang="en-US" altLang="ja-JP" sz="2400" b="1" dirty="0"/>
              <a:t>2D</a:t>
            </a:r>
            <a:r>
              <a:rPr lang="ja-JP" altLang="en-US" sz="2400" b="1" dirty="0"/>
              <a:t>用当たり判定例＞</a:t>
            </a:r>
            <a:br>
              <a:rPr lang="en-US" altLang="ja-JP" sz="2400" b="1" dirty="0"/>
            </a:br>
            <a:r>
              <a:rPr lang="ja-JP" altLang="en-US" sz="2400" b="1" dirty="0"/>
              <a:t>　・点と矩形の当たり判定</a:t>
            </a:r>
            <a:br>
              <a:rPr lang="en-US" altLang="ja-JP" sz="2400" b="1" dirty="0"/>
            </a:br>
            <a:r>
              <a:rPr lang="ja-JP" altLang="en-US" sz="2400" b="1" dirty="0"/>
              <a:t>　・円と線の当たり判定</a:t>
            </a:r>
            <a:br>
              <a:rPr lang="en-US" altLang="ja-JP" sz="2400" b="1" dirty="0"/>
            </a:br>
            <a:r>
              <a:rPr lang="ja-JP" altLang="en-US" sz="2400" b="1" dirty="0"/>
              <a:t>　・円と矩形の当たり判定</a:t>
            </a:r>
            <a:br>
              <a:rPr lang="en-US" altLang="ja-JP" sz="2400" b="1" dirty="0"/>
            </a:br>
            <a:r>
              <a:rPr lang="ja-JP" altLang="en-US" sz="2400" b="1" dirty="0"/>
              <a:t>　・線分と線分の衝突位置</a:t>
            </a:r>
            <a:r>
              <a:rPr lang="en-US" altLang="ja-JP" sz="2400" b="1" dirty="0"/>
              <a:t>				</a:t>
            </a:r>
            <a:r>
              <a:rPr lang="en-US" altLang="ja-JP" sz="2400" b="1" dirty="0" err="1"/>
              <a:t>etc</a:t>
            </a:r>
            <a:r>
              <a:rPr lang="en-US" altLang="ja-JP" sz="2400" b="1" dirty="0"/>
              <a:t>…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6EDC2E13-2CD4-4B8F-8B72-779A77EE3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831" y="4509120"/>
            <a:ext cx="80648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400" b="1" dirty="0"/>
              <a:t>＜</a:t>
            </a:r>
            <a:r>
              <a:rPr lang="en-US" altLang="ja-JP" sz="2400" b="1" dirty="0"/>
              <a:t>3D</a:t>
            </a:r>
            <a:r>
              <a:rPr lang="ja-JP" altLang="en-US" sz="2400" b="1" dirty="0"/>
              <a:t>用当たり判定例＞</a:t>
            </a:r>
            <a:br>
              <a:rPr lang="en-US" altLang="ja-JP" sz="2400" b="1" dirty="0"/>
            </a:br>
            <a:r>
              <a:rPr lang="ja-JP" altLang="en-US" sz="2400" b="1" dirty="0"/>
              <a:t>　・ボックス同士の当たり判定</a:t>
            </a:r>
            <a:r>
              <a:rPr lang="en-US" altLang="ja-JP" sz="2400" b="1" dirty="0"/>
              <a:t>(OBB)</a:t>
            </a:r>
            <a:br>
              <a:rPr lang="en-US" altLang="ja-JP" sz="2400" b="1" dirty="0"/>
            </a:br>
            <a:r>
              <a:rPr lang="ja-JP" altLang="en-US" sz="2400" b="1" dirty="0"/>
              <a:t>　・線分と展の最短距離</a:t>
            </a:r>
            <a:br>
              <a:rPr lang="en-US" altLang="ja-JP" sz="2400" b="1" dirty="0"/>
            </a:br>
            <a:r>
              <a:rPr lang="ja-JP" altLang="en-US" sz="2400" b="1" dirty="0"/>
              <a:t>　・カプセルと球の当たり判定</a:t>
            </a:r>
            <a:br>
              <a:rPr lang="en-US" altLang="ja-JP" sz="2400" b="1" dirty="0"/>
            </a:br>
            <a:r>
              <a:rPr lang="ja-JP" altLang="en-US" sz="2400" b="1" dirty="0"/>
              <a:t>　・線分とボックス</a:t>
            </a:r>
            <a:r>
              <a:rPr lang="en-US" altLang="ja-JP" sz="2400" b="1" dirty="0"/>
              <a:t>(AABB)</a:t>
            </a:r>
            <a:r>
              <a:rPr lang="ja-JP" altLang="en-US" sz="2400" b="1" dirty="0"/>
              <a:t>の当たり判定</a:t>
            </a:r>
            <a:r>
              <a:rPr lang="en-US" altLang="ja-JP" sz="2400" b="1" dirty="0"/>
              <a:t>		</a:t>
            </a:r>
            <a:r>
              <a:rPr lang="en-US" altLang="ja-JP" sz="2400" b="1" dirty="0" err="1"/>
              <a:t>etc</a:t>
            </a:r>
            <a:r>
              <a:rPr lang="en-US" altLang="ja-JP" sz="24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7834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1772816"/>
            <a:ext cx="8377913" cy="11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使用しない場合は無理に作らなくでも</a:t>
            </a:r>
            <a:r>
              <a:rPr lang="en-US" altLang="ja-JP" sz="2260" b="1" dirty="0"/>
              <a:t>OK</a:t>
            </a:r>
            <a:r>
              <a:rPr lang="ja-JP" altLang="en-US" sz="2260" b="1" dirty="0"/>
              <a:t>！</a:t>
            </a:r>
            <a:br>
              <a:rPr lang="en-US" altLang="ja-JP" sz="2260" b="1" dirty="0"/>
            </a:br>
            <a:r>
              <a:rPr lang="ja-JP" altLang="en-US" sz="2260" b="1" dirty="0"/>
              <a:t>ただし、実際には使用しなくても「</a:t>
            </a:r>
            <a:r>
              <a:rPr lang="ja-JP" altLang="en-US" sz="2260" b="1" dirty="0">
                <a:solidFill>
                  <a:srgbClr val="FF66CC"/>
                </a:solidFill>
              </a:rPr>
              <a:t>数学ができるんだぞ</a:t>
            </a:r>
            <a:r>
              <a:rPr lang="ja-JP" altLang="en-US" sz="2260" b="1" dirty="0"/>
              <a:t>」という</a:t>
            </a:r>
            <a:br>
              <a:rPr lang="en-US" altLang="ja-JP" sz="2260" b="1" dirty="0"/>
            </a:br>
            <a:r>
              <a:rPr lang="ja-JP" altLang="en-US" sz="2260" b="1" dirty="0"/>
              <a:t>アピールにはなるので、損になることは無い。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1331640" y="896346"/>
            <a:ext cx="4238159" cy="531935"/>
          </a:xfrm>
          <a:prstGeom prst="wedgeRoundRectCallout">
            <a:avLst>
              <a:gd name="adj1" fmla="val 62064"/>
              <a:gd name="adj2" fmla="val -5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うーん、無理に作らなくてもいいよね。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38650170-EBB3-4C9F-A5BE-447219C3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043" y="4812237"/>
            <a:ext cx="8377913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ライブラリに入れても問題なし。</a:t>
            </a:r>
            <a:br>
              <a:rPr lang="en-US" altLang="ja-JP" sz="2263" b="1" dirty="0"/>
            </a:br>
            <a:r>
              <a:rPr lang="ja-JP" altLang="en-US" sz="2263" b="1" dirty="0"/>
              <a:t>ただし、モデルハンドルが必要であったりするので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00B0F0"/>
                </a:solidFill>
              </a:rPr>
              <a:t>他のプロジェクトの移植しやすい</a:t>
            </a:r>
            <a:r>
              <a:rPr lang="ja-JP" altLang="en-US" sz="2263" b="1" dirty="0"/>
              <a:t>ような工夫は必要。</a:t>
            </a:r>
          </a:p>
        </p:txBody>
      </p:sp>
      <p:sp>
        <p:nvSpPr>
          <p:cNvPr id="14" name="角丸四角形吹き出し 13">
            <a:extLst>
              <a:ext uri="{FF2B5EF4-FFF2-40B4-BE49-F238E27FC236}">
                <a16:creationId xmlns:a16="http://schemas.microsoft.com/office/drawing/2014/main" id="{D2BD15FD-703B-45BD-9314-A43DD8841038}"/>
              </a:ext>
            </a:extLst>
          </p:cNvPr>
          <p:cNvSpPr/>
          <p:nvPr/>
        </p:nvSpPr>
        <p:spPr>
          <a:xfrm>
            <a:off x="3234695" y="3429000"/>
            <a:ext cx="4670207" cy="788806"/>
          </a:xfrm>
          <a:prstGeom prst="wedgeRoundRectCallout">
            <a:avLst>
              <a:gd name="adj1" fmla="val -58656"/>
              <a:gd name="adj2" fmla="val 892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 err="1"/>
              <a:t>DxLib</a:t>
            </a:r>
            <a:r>
              <a:rPr lang="ja-JP" altLang="en-US" sz="2000" b="1" dirty="0"/>
              <a:t>にある、モデルとの当たり判定は</a:t>
            </a:r>
            <a:br>
              <a:rPr lang="en-US" altLang="ja-JP" sz="2000" b="1" dirty="0"/>
            </a:br>
            <a:r>
              <a:rPr lang="ja-JP" altLang="en-US" sz="2000" b="1" dirty="0"/>
              <a:t>入れなくてもいいの？</a:t>
            </a:r>
          </a:p>
        </p:txBody>
      </p:sp>
      <p:pic>
        <p:nvPicPr>
          <p:cNvPr id="2050" name="Picture 2" descr="苦笑いをする女性のイラスト">
            <a:extLst>
              <a:ext uri="{FF2B5EF4-FFF2-40B4-BE49-F238E27FC236}">
                <a16:creationId xmlns:a16="http://schemas.microsoft.com/office/drawing/2014/main" id="{EE28EA49-ABE2-4D2F-8233-452722903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23" y="195125"/>
            <a:ext cx="1388368" cy="1577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白人の女の子の表情イラスト「疑問」">
            <a:extLst>
              <a:ext uri="{FF2B5EF4-FFF2-40B4-BE49-F238E27FC236}">
                <a16:creationId xmlns:a16="http://schemas.microsoft.com/office/drawing/2014/main" id="{3F0A0B31-0DE9-4D1E-9190-EFAAFA11E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017835"/>
            <a:ext cx="1476691" cy="169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16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当たり判定管理クラス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908720"/>
            <a:ext cx="8377913" cy="78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更に、より実践で使いやすい「</a:t>
            </a:r>
            <a:r>
              <a:rPr lang="ja-JP" altLang="en-US" sz="2260" b="1" dirty="0">
                <a:solidFill>
                  <a:srgbClr val="FF66CC"/>
                </a:solidFill>
              </a:rPr>
              <a:t>当たり判定を管理するクラス</a:t>
            </a:r>
            <a:r>
              <a:rPr lang="ja-JP" altLang="en-US" sz="2260" b="1" dirty="0"/>
              <a:t>」も</a:t>
            </a:r>
            <a:br>
              <a:rPr lang="en-US" altLang="ja-JP" sz="2260" b="1" dirty="0"/>
            </a:br>
            <a:r>
              <a:rPr lang="ja-JP" altLang="en-US" sz="2260" b="1" dirty="0"/>
              <a:t>ライブラリに入れてしまうという選択肢がある。</a:t>
            </a: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09A16207-DD85-4C8F-913A-74394DB21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9" y="3573016"/>
            <a:ext cx="8377913" cy="2005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授業で作成した当たり判定管理クラスは</a:t>
            </a:r>
            <a:br>
              <a:rPr lang="en-US" altLang="ja-JP" sz="2260" b="1" dirty="0"/>
            </a:br>
            <a:r>
              <a:rPr lang="ja-JP" altLang="en-US" sz="2260" b="1" dirty="0"/>
              <a:t>その</a:t>
            </a:r>
            <a:r>
              <a:rPr lang="ja-JP" altLang="en-US" sz="2260" b="1" dirty="0">
                <a:solidFill>
                  <a:srgbClr val="7030A0"/>
                </a:solidFill>
              </a:rPr>
              <a:t>ゲーム特有のクラスを引数にしている</a:t>
            </a:r>
            <a:r>
              <a:rPr lang="ja-JP" altLang="en-US" sz="2260" b="1" dirty="0"/>
              <a:t>ため</a:t>
            </a:r>
            <a:br>
              <a:rPr lang="en-US" altLang="ja-JP" sz="2260" b="1" dirty="0"/>
            </a:br>
            <a:r>
              <a:rPr lang="ja-JP" altLang="en-US" sz="2260" b="1" dirty="0"/>
              <a:t>移植することが難しい。</a:t>
            </a:r>
            <a:endParaRPr lang="en-US" altLang="ja-JP" sz="2260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が、あらかじめ様々な準備をしておけば</a:t>
            </a:r>
            <a:br>
              <a:rPr lang="en-US" altLang="ja-JP" sz="2260" b="1" dirty="0"/>
            </a:br>
            <a:r>
              <a:rPr lang="ja-JP" altLang="en-US" sz="2260" b="1" dirty="0"/>
              <a:t>ライブラリ化に対応することも可能。</a:t>
            </a:r>
            <a:endParaRPr lang="en-US" altLang="ja-JP" sz="2260" b="1" dirty="0"/>
          </a:p>
        </p:txBody>
      </p:sp>
      <p:sp>
        <p:nvSpPr>
          <p:cNvPr id="10" name="角丸四角形吹き出し 13">
            <a:extLst>
              <a:ext uri="{FF2B5EF4-FFF2-40B4-BE49-F238E27FC236}">
                <a16:creationId xmlns:a16="http://schemas.microsoft.com/office/drawing/2014/main" id="{07C345FA-EF55-461D-AAA6-92DC971ACE95}"/>
              </a:ext>
            </a:extLst>
          </p:cNvPr>
          <p:cNvSpPr/>
          <p:nvPr/>
        </p:nvSpPr>
        <p:spPr>
          <a:xfrm>
            <a:off x="1187624" y="1916832"/>
            <a:ext cx="4238159" cy="1313900"/>
          </a:xfrm>
          <a:prstGeom prst="wedgeRoundRectCallout">
            <a:avLst>
              <a:gd name="adj1" fmla="val 65403"/>
              <a:gd name="adj2" fmla="val -788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ん？これもすでにゲーム制作で</a:t>
            </a:r>
            <a:br>
              <a:rPr lang="en-US" altLang="ja-JP" sz="2000" b="1" dirty="0"/>
            </a:br>
            <a:r>
              <a:rPr lang="ja-JP" altLang="en-US" sz="2000" b="1" dirty="0"/>
              <a:t>作っていると思うんだよな。</a:t>
            </a:r>
            <a:br>
              <a:rPr lang="en-US" altLang="ja-JP" sz="2000" b="1" dirty="0"/>
            </a:br>
            <a:r>
              <a:rPr lang="ja-JP" altLang="en-US" sz="2000" b="1" dirty="0"/>
              <a:t>しかも、これはライブラリ化は</a:t>
            </a:r>
            <a:br>
              <a:rPr lang="en-US" altLang="ja-JP" sz="2000" b="1" dirty="0"/>
            </a:br>
            <a:r>
              <a:rPr lang="ja-JP" altLang="en-US" sz="2000" b="1" dirty="0"/>
              <a:t>難しいんじゃないかな？</a:t>
            </a:r>
          </a:p>
        </p:txBody>
      </p:sp>
      <p:sp>
        <p:nvSpPr>
          <p:cNvPr id="13" name="角丸四角形吹き出し 13">
            <a:extLst>
              <a:ext uri="{FF2B5EF4-FFF2-40B4-BE49-F238E27FC236}">
                <a16:creationId xmlns:a16="http://schemas.microsoft.com/office/drawing/2014/main" id="{E0BE39DC-C9A3-4F68-94F8-139C0F161C76}"/>
              </a:ext>
            </a:extLst>
          </p:cNvPr>
          <p:cNvSpPr/>
          <p:nvPr/>
        </p:nvSpPr>
        <p:spPr>
          <a:xfrm>
            <a:off x="3563888" y="5644431"/>
            <a:ext cx="4823283" cy="1028050"/>
          </a:xfrm>
          <a:prstGeom prst="wedgeRoundRectCallout">
            <a:avLst>
              <a:gd name="adj1" fmla="val -64804"/>
              <a:gd name="adj2" fmla="val 1011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とはいえ、この後解説するやり方は</a:t>
            </a:r>
            <a:br>
              <a:rPr lang="en-US" altLang="ja-JP" sz="2000" b="1" dirty="0"/>
            </a:br>
            <a:r>
              <a:rPr lang="ja-JP" altLang="en-US" sz="2000" b="1" dirty="0"/>
              <a:t>デメリットも大きいので必須かと言うと・・・。</a:t>
            </a:r>
          </a:p>
        </p:txBody>
      </p:sp>
      <p:pic>
        <p:nvPicPr>
          <p:cNvPr id="3074" name="Picture 2" descr="スーツを着た女性のイラスト（悩む顔）">
            <a:extLst>
              <a:ext uri="{FF2B5EF4-FFF2-40B4-BE49-F238E27FC236}">
                <a16:creationId xmlns:a16="http://schemas.microsoft.com/office/drawing/2014/main" id="{467405F3-818E-48CC-BC41-B4351D92B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682322"/>
            <a:ext cx="14001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顔色が悪い人のイラスト（男性）">
            <a:extLst>
              <a:ext uri="{FF2B5EF4-FFF2-40B4-BE49-F238E27FC236}">
                <a16:creationId xmlns:a16="http://schemas.microsoft.com/office/drawing/2014/main" id="{2208B66D-8C60-44EB-AAF9-291224B0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5534610"/>
            <a:ext cx="1224136" cy="132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3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B8E81384-F255-464F-A07E-9E4EC3798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836712"/>
            <a:ext cx="7704856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当たり判定が必要なすべての物体が</a:t>
            </a:r>
            <a:br>
              <a:rPr lang="en-US" altLang="ja-JP" sz="2263" b="1" dirty="0"/>
            </a:br>
            <a:r>
              <a:rPr lang="ja-JP" altLang="en-US" sz="2263" b="1" dirty="0">
                <a:solidFill>
                  <a:srgbClr val="FF0000"/>
                </a:solidFill>
              </a:rPr>
              <a:t>共通のクラスを継承</a:t>
            </a:r>
            <a:r>
              <a:rPr lang="ja-JP" altLang="en-US" sz="2263" b="1" dirty="0"/>
              <a:t>して作られていること。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C47E265E-0AD5-4DE7-B4AC-E34CB026B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32656"/>
            <a:ext cx="1450776" cy="44057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前提条件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A4E3C2BA-5782-4029-925C-2A9882DCD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700808"/>
            <a:ext cx="1872208" cy="78880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プログラムの</a:t>
            </a:r>
            <a:br>
              <a:rPr lang="en-US" altLang="ja-JP" sz="2263" b="1" dirty="0"/>
            </a:br>
            <a:r>
              <a:rPr lang="ja-JP" altLang="en-US" sz="2263" b="1" dirty="0"/>
              <a:t>考え方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DA29102B-5FBA-44C1-9F28-914621A6C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972" y="2564904"/>
            <a:ext cx="7704856" cy="1659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①当たり判定管理クラスは、どこからでもアクセスできるように</a:t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en-US" altLang="ja-JP" sz="2263" b="1" dirty="0"/>
              <a:t> </a:t>
            </a:r>
            <a:r>
              <a:rPr lang="ja-JP" altLang="en-US" sz="2263" b="1" dirty="0">
                <a:solidFill>
                  <a:srgbClr val="FF66CC"/>
                </a:solidFill>
              </a:rPr>
              <a:t>シングルトンで作成</a:t>
            </a:r>
            <a:r>
              <a:rPr lang="ja-JP" altLang="en-US" sz="2263" b="1" dirty="0"/>
              <a:t>しておく。</a:t>
            </a:r>
            <a:endParaRPr lang="en-US" altLang="ja-JP" sz="2263" b="1" dirty="0"/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②当たり判定を行う物体たちを、タイプごとに登録できるように</a:t>
            </a:r>
            <a:br>
              <a:rPr lang="en-US" altLang="ja-JP" sz="2263" b="1" dirty="0"/>
            </a:br>
            <a:r>
              <a:rPr lang="ja-JP" altLang="en-US" sz="2263" b="1" dirty="0"/>
              <a:t>　 リストを作成する。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7F886778-FBA8-4A55-99C7-6FD677A58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40" y="4224333"/>
            <a:ext cx="3606283" cy="15525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F0FE15C3-FB88-4A93-8D34-223790081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965" y="5883762"/>
            <a:ext cx="5577483" cy="8144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196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>
            <a:extLst>
              <a:ext uri="{FF2B5EF4-FFF2-40B4-BE49-F238E27FC236}">
                <a16:creationId xmlns:a16="http://schemas.microsoft.com/office/drawing/2014/main" id="{D00C45D7-CB83-4109-AEED-446946FA9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60648"/>
            <a:ext cx="770485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③当たり判定のタイプ分の配列を用意する。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0816C7C6-F654-475F-93DA-3C5613866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340358"/>
            <a:ext cx="770485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④当たり判定を行いたい物体のアドレスを登録する。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CF6FE7C-4FAD-4E6C-9C0B-8E125DAC9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764704"/>
            <a:ext cx="3962400" cy="1457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F20F884-10A3-4B6F-8A17-12FD557DE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25" y="2899257"/>
            <a:ext cx="4705350" cy="15716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角丸四角形吹き出し 13">
            <a:extLst>
              <a:ext uri="{FF2B5EF4-FFF2-40B4-BE49-F238E27FC236}">
                <a16:creationId xmlns:a16="http://schemas.microsoft.com/office/drawing/2014/main" id="{1F3530C4-9226-4ACE-91F8-5382179C0494}"/>
              </a:ext>
            </a:extLst>
          </p:cNvPr>
          <p:cNvSpPr/>
          <p:nvPr/>
        </p:nvSpPr>
        <p:spPr>
          <a:xfrm>
            <a:off x="3563888" y="5065246"/>
            <a:ext cx="5327339" cy="1028050"/>
          </a:xfrm>
          <a:prstGeom prst="wedgeRoundRectCallout">
            <a:avLst>
              <a:gd name="adj1" fmla="val -64804"/>
              <a:gd name="adj2" fmla="val 1011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ここで共通の基底クラスを継承していることが</a:t>
            </a:r>
            <a:br>
              <a:rPr lang="en-US" altLang="ja-JP" sz="2000" b="1" dirty="0"/>
            </a:br>
            <a:r>
              <a:rPr lang="ja-JP" altLang="en-US" sz="2000" b="1" dirty="0"/>
              <a:t>役に立ってくるね！</a:t>
            </a:r>
          </a:p>
        </p:txBody>
      </p:sp>
      <p:pic>
        <p:nvPicPr>
          <p:cNvPr id="4098" name="Picture 2" descr="目標を達成した人のイラスト（男性）">
            <a:extLst>
              <a:ext uri="{FF2B5EF4-FFF2-40B4-BE49-F238E27FC236}">
                <a16:creationId xmlns:a16="http://schemas.microsoft.com/office/drawing/2014/main" id="{051283B2-3C13-437F-BC36-D369FD364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743419"/>
            <a:ext cx="1961834" cy="185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02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>
            <a:extLst>
              <a:ext uri="{FF2B5EF4-FFF2-40B4-BE49-F238E27FC236}">
                <a16:creationId xmlns:a16="http://schemas.microsoft.com/office/drawing/2014/main" id="{D00C45D7-CB83-4109-AEED-446946FA9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572" y="260648"/>
            <a:ext cx="7704856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⑤登録したリストから物体を取り出し、当たり判定を行う。</a:t>
            </a:r>
            <a:br>
              <a:rPr lang="en-US" altLang="ja-JP" sz="2263" b="1" dirty="0"/>
            </a:br>
            <a:r>
              <a:rPr lang="ja-JP" altLang="en-US" sz="2263" b="1" dirty="0"/>
              <a:t>　 当たった場合は、当たった相手の情報を渡し、</a:t>
            </a:r>
            <a:br>
              <a:rPr lang="en-US" altLang="ja-JP" sz="2263" b="1" dirty="0"/>
            </a:br>
            <a:r>
              <a:rPr lang="ja-JP" altLang="en-US" sz="2263" b="1" dirty="0"/>
              <a:t>　 各自必要な情報を取得しつつ処理を行ってもらう。</a:t>
            </a:r>
            <a:endParaRPr lang="en-US" altLang="ja-JP" sz="2263" b="1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76BE650-F867-4289-8E64-446BE2E76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2" y="1672560"/>
            <a:ext cx="9036496" cy="48527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931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4009244"/>
            <a:ext cx="8377913" cy="78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上記のように、基底クラスはとりあえず</a:t>
            </a:r>
            <a:r>
              <a:rPr lang="ja-JP" altLang="en-US" sz="2260" b="1" dirty="0" err="1"/>
              <a:t>で</a:t>
            </a:r>
            <a:r>
              <a:rPr lang="ja-JP" altLang="en-US" sz="2260" b="1" dirty="0"/>
              <a:t>作っておいて</a:t>
            </a:r>
            <a:br>
              <a:rPr lang="en-US" altLang="ja-JP" sz="2260" b="1" dirty="0"/>
            </a:br>
            <a:r>
              <a:rPr lang="ja-JP" altLang="en-US" sz="2260" b="1" dirty="0"/>
              <a:t>派生クラスの方で体力を減らしたり、押し戻し処理を行ったりする。</a:t>
            </a:r>
          </a:p>
        </p:txBody>
      </p:sp>
      <p:sp>
        <p:nvSpPr>
          <p:cNvPr id="7" name="角丸四角形吹き出し 13">
            <a:extLst>
              <a:ext uri="{FF2B5EF4-FFF2-40B4-BE49-F238E27FC236}">
                <a16:creationId xmlns:a16="http://schemas.microsoft.com/office/drawing/2014/main" id="{283CAB83-0D43-4AE0-960B-7C7186CE100B}"/>
              </a:ext>
            </a:extLst>
          </p:cNvPr>
          <p:cNvSpPr/>
          <p:nvPr/>
        </p:nvSpPr>
        <p:spPr>
          <a:xfrm>
            <a:off x="1043608" y="620688"/>
            <a:ext cx="4752528" cy="1396031"/>
          </a:xfrm>
          <a:prstGeom prst="wedgeRoundRectCallout">
            <a:avLst>
              <a:gd name="adj1" fmla="val 62064"/>
              <a:gd name="adj2" fmla="val -5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という事は、当たり判定後の関数は</a:t>
            </a:r>
            <a:br>
              <a:rPr lang="en-US" altLang="ja-JP" sz="2000" b="1" dirty="0"/>
            </a:br>
            <a:r>
              <a:rPr lang="ja-JP" altLang="en-US" sz="2000" b="1" dirty="0"/>
              <a:t>基底クラスに定義して</a:t>
            </a:r>
            <a:br>
              <a:rPr lang="en-US" altLang="ja-JP" sz="2000" b="1" dirty="0"/>
            </a:br>
            <a:r>
              <a:rPr lang="ja-JP" altLang="en-US" sz="2000" b="1" dirty="0"/>
              <a:t>内容は派生クラスに書いてもらうんだね。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2852ED3-93BF-4DF7-B548-AD67C05D4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50" y="2420888"/>
            <a:ext cx="6591300" cy="1304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角丸四角形吹き出し 13">
            <a:extLst>
              <a:ext uri="{FF2B5EF4-FFF2-40B4-BE49-F238E27FC236}">
                <a16:creationId xmlns:a16="http://schemas.microsoft.com/office/drawing/2014/main" id="{EA6A2FA7-AE5D-4F61-B590-B18CF03FE884}"/>
              </a:ext>
            </a:extLst>
          </p:cNvPr>
          <p:cNvSpPr/>
          <p:nvPr/>
        </p:nvSpPr>
        <p:spPr>
          <a:xfrm>
            <a:off x="3347864" y="5164338"/>
            <a:ext cx="4752528" cy="1107999"/>
          </a:xfrm>
          <a:prstGeom prst="wedgeRoundRectCallout">
            <a:avLst>
              <a:gd name="adj1" fmla="val -61853"/>
              <a:gd name="adj2" fmla="val 737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おや？背景との当たり判定は特殊だけど</a:t>
            </a:r>
            <a:br>
              <a:rPr lang="en-US" altLang="ja-JP" sz="2000" b="1" dirty="0"/>
            </a:br>
            <a:r>
              <a:rPr lang="ja-JP" altLang="en-US" sz="2000" b="1" dirty="0"/>
              <a:t>これも何とかなるかな？</a:t>
            </a:r>
          </a:p>
        </p:txBody>
      </p:sp>
      <p:pic>
        <p:nvPicPr>
          <p:cNvPr id="5122" name="Picture 2" descr="本を読んで閃いた人のイラスト（男性）">
            <a:extLst>
              <a:ext uri="{FF2B5EF4-FFF2-40B4-BE49-F238E27FC236}">
                <a16:creationId xmlns:a16="http://schemas.microsoft.com/office/drawing/2014/main" id="{174413C2-344B-453E-ADC1-01397811F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199" y="456767"/>
            <a:ext cx="1768193" cy="175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お婆さんの表情のイラスト「疑問」">
            <a:extLst>
              <a:ext uri="{FF2B5EF4-FFF2-40B4-BE49-F238E27FC236}">
                <a16:creationId xmlns:a16="http://schemas.microsoft.com/office/drawing/2014/main" id="{A68EE70E-C5E5-4F9B-BE12-89E348B78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954638"/>
            <a:ext cx="1288107" cy="15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2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>
            <a:extLst>
              <a:ext uri="{FF2B5EF4-FFF2-40B4-BE49-F238E27FC236}">
                <a16:creationId xmlns:a16="http://schemas.microsoft.com/office/drawing/2014/main" id="{CD1D06AD-1560-4D3C-910A-2E62E8C51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20" y="391304"/>
            <a:ext cx="826933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>
              <a:defRPr/>
            </a:pPr>
            <a:r>
              <a:rPr lang="ja-JP" altLang="en-US" sz="2400" b="1" dirty="0"/>
              <a:t>現状ではタイプ別で当たり判定をしているので、</a:t>
            </a:r>
            <a:br>
              <a:rPr lang="en-US" altLang="ja-JP" sz="2400" b="1" dirty="0"/>
            </a:br>
            <a:r>
              <a:rPr lang="ja-JP" altLang="en-US" sz="2400" b="1" dirty="0"/>
              <a:t>タイプ「背景」と当たり判定をするときは</a:t>
            </a:r>
            <a:br>
              <a:rPr lang="en-US" altLang="ja-JP" sz="2400" b="1" dirty="0"/>
            </a:br>
            <a:r>
              <a:rPr lang="ja-JP" altLang="en-US" sz="2400" b="1" dirty="0"/>
              <a:t>少し特殊な処理をやってあげれば問題ない。</a:t>
            </a:r>
            <a:endParaRPr lang="en-US" altLang="ja-JP" sz="2400" b="1" dirty="0"/>
          </a:p>
        </p:txBody>
      </p:sp>
      <p:sp>
        <p:nvSpPr>
          <p:cNvPr id="6" name="角丸四角形吹き出し 13">
            <a:extLst>
              <a:ext uri="{FF2B5EF4-FFF2-40B4-BE49-F238E27FC236}">
                <a16:creationId xmlns:a16="http://schemas.microsoft.com/office/drawing/2014/main" id="{E2E49B77-95C0-454F-8771-550711BC81F1}"/>
              </a:ext>
            </a:extLst>
          </p:cNvPr>
          <p:cNvSpPr/>
          <p:nvPr/>
        </p:nvSpPr>
        <p:spPr>
          <a:xfrm>
            <a:off x="827584" y="1916832"/>
            <a:ext cx="4452912" cy="963983"/>
          </a:xfrm>
          <a:prstGeom prst="wedgeRoundRectCallout">
            <a:avLst>
              <a:gd name="adj1" fmla="val 62064"/>
              <a:gd name="adj2" fmla="val -539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基底クラスでモデルハンドルも取得</a:t>
            </a:r>
            <a:br>
              <a:rPr lang="en-US" altLang="ja-JP" sz="2000" b="1" dirty="0"/>
            </a:br>
            <a:r>
              <a:rPr lang="ja-JP" altLang="en-US" sz="2000" b="1" dirty="0"/>
              <a:t>出来るようにしておけば大丈夫。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822CA249-33D5-46A7-83BD-52134AB95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332" y="3524815"/>
            <a:ext cx="826933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>
              <a:defRPr/>
            </a:pPr>
            <a:r>
              <a:rPr lang="ja-JP" altLang="en-US" sz="2400" b="1" dirty="0"/>
              <a:t>また、基底クラスにタイプを保存する変数があれば</a:t>
            </a:r>
            <a:br>
              <a:rPr lang="en-US" altLang="ja-JP" sz="2400" b="1" dirty="0"/>
            </a:br>
            <a:r>
              <a:rPr lang="ja-JP" altLang="en-US" sz="2400" b="1" dirty="0"/>
              <a:t>リストをタイプ別に分けずに</a:t>
            </a:r>
            <a:r>
              <a:rPr lang="en-US" altLang="ja-JP" sz="2400" b="1" dirty="0"/>
              <a:t>1</a:t>
            </a:r>
            <a:r>
              <a:rPr lang="ja-JP" altLang="en-US" sz="2400" b="1" dirty="0"/>
              <a:t>回のループで</a:t>
            </a:r>
            <a:br>
              <a:rPr lang="en-US" altLang="ja-JP" sz="2400" b="1" dirty="0"/>
            </a:br>
            <a:r>
              <a:rPr lang="ja-JP" altLang="en-US" sz="2400" b="1" dirty="0"/>
              <a:t>全て完了させることも可能だったりする。</a:t>
            </a:r>
            <a:endParaRPr lang="en-US" altLang="ja-JP" sz="2400" b="1" dirty="0"/>
          </a:p>
        </p:txBody>
      </p:sp>
      <p:pic>
        <p:nvPicPr>
          <p:cNvPr id="6146" name="Picture 2" descr="安心している女の子のイラスト">
            <a:extLst>
              <a:ext uri="{FF2B5EF4-FFF2-40B4-BE49-F238E27FC236}">
                <a16:creationId xmlns:a16="http://schemas.microsoft.com/office/drawing/2014/main" id="{AF992767-0A8C-4B35-A223-461E26795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540105"/>
            <a:ext cx="1709680" cy="1809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06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394741" y="398562"/>
            <a:ext cx="6913563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ja-JP" sz="2250" b="1" dirty="0"/>
              <a:t>[</a:t>
            </a:r>
            <a:r>
              <a:rPr lang="ja-JP" altLang="en-US" sz="2250" b="1" dirty="0"/>
              <a:t>当たり判定管理クラスのデメリット</a:t>
            </a:r>
            <a:r>
              <a:rPr lang="en-US" altLang="ja-JP" sz="2250" b="1" dirty="0"/>
              <a:t>]</a:t>
            </a:r>
            <a:endParaRPr lang="ja-JP" altLang="en-US" sz="2250" b="1" dirty="0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3044" y="2293304"/>
            <a:ext cx="8377913" cy="11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ポリモーフィズムを利用した当たり判定は、</a:t>
            </a:r>
            <a:br>
              <a:rPr lang="en-US" altLang="ja-JP" sz="2260" b="1" dirty="0"/>
            </a:br>
            <a:r>
              <a:rPr lang="ja-JP" altLang="en-US" sz="2260" b="1" dirty="0"/>
              <a:t>処理をまとめればまとめるほど</a:t>
            </a:r>
            <a:r>
              <a:rPr lang="ja-JP" altLang="en-US" sz="2260" b="1" dirty="0">
                <a:solidFill>
                  <a:srgbClr val="7030A0"/>
                </a:solidFill>
              </a:rPr>
              <a:t>デバッグが追いにくくなる</a:t>
            </a:r>
            <a:br>
              <a:rPr lang="en-US" altLang="ja-JP" sz="2260" b="1" dirty="0"/>
            </a:br>
            <a:r>
              <a:rPr lang="ja-JP" altLang="en-US" sz="2260" b="1" dirty="0"/>
              <a:t>可能性がある、という点。</a:t>
            </a:r>
          </a:p>
        </p:txBody>
      </p:sp>
      <p:sp>
        <p:nvSpPr>
          <p:cNvPr id="10" name="角丸四角形吹き出し 13">
            <a:extLst>
              <a:ext uri="{FF2B5EF4-FFF2-40B4-BE49-F238E27FC236}">
                <a16:creationId xmlns:a16="http://schemas.microsoft.com/office/drawing/2014/main" id="{07C345FA-EF55-461D-AAA6-92DC971ACE95}"/>
              </a:ext>
            </a:extLst>
          </p:cNvPr>
          <p:cNvSpPr/>
          <p:nvPr/>
        </p:nvSpPr>
        <p:spPr>
          <a:xfrm>
            <a:off x="700127" y="1030800"/>
            <a:ext cx="4238159" cy="814024"/>
          </a:xfrm>
          <a:prstGeom prst="wedgeRoundRectCallout">
            <a:avLst>
              <a:gd name="adj1" fmla="val 65403"/>
              <a:gd name="adj2" fmla="val -788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/>
              <a:t>最初に言っていた「デメリット」は</a:t>
            </a:r>
            <a:br>
              <a:rPr lang="en-US" altLang="ja-JP" sz="2000" b="1" dirty="0"/>
            </a:br>
            <a:r>
              <a:rPr lang="ja-JP" altLang="en-US" sz="2000" b="1" dirty="0"/>
              <a:t>結局なんなの？</a:t>
            </a:r>
          </a:p>
        </p:txBody>
      </p:sp>
      <p:sp>
        <p:nvSpPr>
          <p:cNvPr id="13" name="角丸四角形吹き出し 13">
            <a:extLst>
              <a:ext uri="{FF2B5EF4-FFF2-40B4-BE49-F238E27FC236}">
                <a16:creationId xmlns:a16="http://schemas.microsoft.com/office/drawing/2014/main" id="{E0BE39DC-C9A3-4F68-94F8-139C0F161C76}"/>
              </a:ext>
            </a:extLst>
          </p:cNvPr>
          <p:cNvSpPr/>
          <p:nvPr/>
        </p:nvSpPr>
        <p:spPr>
          <a:xfrm>
            <a:off x="3347864" y="3857536"/>
            <a:ext cx="4967299" cy="1028050"/>
          </a:xfrm>
          <a:prstGeom prst="wedgeRoundRectCallout">
            <a:avLst>
              <a:gd name="adj1" fmla="val -64804"/>
              <a:gd name="adj2" fmla="val 1011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/>
              <a:t>5</a:t>
            </a:r>
            <a:r>
              <a:rPr lang="ja-JP" altLang="en-US" sz="2000" b="1" dirty="0"/>
              <a:t>番目の敵の挙動がおかしいのは</a:t>
            </a:r>
            <a:br>
              <a:rPr lang="en-US" altLang="ja-JP" sz="2000" b="1" dirty="0"/>
            </a:br>
            <a:r>
              <a:rPr lang="ja-JP" altLang="en-US" sz="2000" b="1" dirty="0"/>
              <a:t>分かってるんだよー！</a:t>
            </a:r>
            <a:br>
              <a:rPr lang="en-US" altLang="ja-JP" sz="2000" b="1" dirty="0"/>
            </a:br>
            <a:r>
              <a:rPr lang="ja-JP" altLang="en-US" sz="2000" b="1" dirty="0"/>
              <a:t>でも、リストだとどこのやつかが分からない。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42B0197-5DFE-494F-BDB7-9F4C01A28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29" y="5317640"/>
            <a:ext cx="8377913" cy="11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0" b="1" dirty="0"/>
              <a:t>また、</a:t>
            </a:r>
            <a:r>
              <a:rPr lang="ja-JP" altLang="en-US" sz="2260" b="1" dirty="0">
                <a:solidFill>
                  <a:srgbClr val="00B050"/>
                </a:solidFill>
              </a:rPr>
              <a:t>登録のし忘れ</a:t>
            </a:r>
            <a:r>
              <a:rPr lang="ja-JP" altLang="en-US" sz="2260" b="1" dirty="0"/>
              <a:t>や</a:t>
            </a:r>
            <a:r>
              <a:rPr lang="ja-JP" altLang="en-US" sz="2260" b="1" dirty="0">
                <a:solidFill>
                  <a:srgbClr val="0000FF"/>
                </a:solidFill>
              </a:rPr>
              <a:t>リストからの削除間違い</a:t>
            </a:r>
            <a:r>
              <a:rPr lang="ja-JP" altLang="en-US" sz="2260" b="1" dirty="0"/>
              <a:t>など</a:t>
            </a:r>
            <a:br>
              <a:rPr lang="en-US" altLang="ja-JP" sz="2260" b="1" dirty="0"/>
            </a:br>
            <a:r>
              <a:rPr lang="ja-JP" altLang="en-US" sz="2260" b="1" dirty="0"/>
              <a:t>作り始めのころに置きがちなバグもあったりするので</a:t>
            </a:r>
            <a:br>
              <a:rPr lang="en-US" altLang="ja-JP" sz="2260" b="1" dirty="0"/>
            </a:br>
            <a:r>
              <a:rPr lang="ja-JP" altLang="en-US" sz="2260" b="1" dirty="0"/>
              <a:t>作るときには気を付けよう！</a:t>
            </a:r>
          </a:p>
        </p:txBody>
      </p:sp>
      <p:pic>
        <p:nvPicPr>
          <p:cNvPr id="7170" name="Picture 2" descr="頭にクエスチョンマークを浮かべた人のイラスト（女性）">
            <a:extLst>
              <a:ext uri="{FF2B5EF4-FFF2-40B4-BE49-F238E27FC236}">
                <a16:creationId xmlns:a16="http://schemas.microsoft.com/office/drawing/2014/main" id="{798DC935-3CA5-43A1-8B77-0E7BD1D13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164" y="296652"/>
            <a:ext cx="1476013" cy="181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怒るハムスターのキャラクター">
            <a:extLst>
              <a:ext uri="{FF2B5EF4-FFF2-40B4-BE49-F238E27FC236}">
                <a16:creationId xmlns:a16="http://schemas.microsoft.com/office/drawing/2014/main" id="{7D2BE910-094C-41BE-8B88-1A6E62640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588383"/>
            <a:ext cx="1527198" cy="156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82950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14590</TotalTime>
  <Words>902</Words>
  <Application>Microsoft Office PowerPoint</Application>
  <PresentationFormat>画面に合わせる (4:3)</PresentationFormat>
  <Paragraphs>50</Paragraphs>
  <Slides>11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Arial</vt:lpstr>
      <vt:lpstr>Calibri</vt:lpstr>
      <vt:lpstr>標準デザイン</vt:lpstr>
      <vt:lpstr>この単元の目標</vt:lpstr>
      <vt:lpstr>5　コリジョンのライブラリ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宮川 喬太朗</cp:lastModifiedBy>
  <cp:revision>614</cp:revision>
  <dcterms:created xsi:type="dcterms:W3CDTF">2013-04-19T02:46:48Z</dcterms:created>
  <dcterms:modified xsi:type="dcterms:W3CDTF">2026-05-11T05:52:47Z</dcterms:modified>
</cp:coreProperties>
</file>